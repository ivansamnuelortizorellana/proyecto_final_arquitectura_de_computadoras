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6" d="100"/>
          <a:sy n="96" d="100"/>
        </p:scale>
        <p:origin x="2034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1371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A5F44-A3F4-6491-1EBF-2C5C3F516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D6AD39-6744-B98D-9C09-5C3AEACF5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99B49-003B-33E0-0527-C692D28C1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04513-37D0-D4EF-3A75-321B3721A9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945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4389120" y="0"/>
            <a:ext cx="45720" cy="51435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CUCEI · UDG · Arquitectura de Computadoras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Procesador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 32-bit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148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de 5 Etapas · Fase 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→ ID → EX → MEM → WB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4564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Diego González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7124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Derek Casillas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9684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Iván Ortiz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2245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Omar Luna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Mayo 2026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1737360"/>
            <a:ext cx="713232" cy="868680"/>
          </a:xfrm>
          <a:prstGeom prst="rect">
            <a:avLst/>
          </a:prstGeom>
          <a:solidFill>
            <a:srgbClr val="21262D"/>
          </a:solidFill>
          <a:ln w="1905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4800600" y="1828800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2212848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513832" y="2171700"/>
            <a:ext cx="13716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5650992" y="1737360"/>
            <a:ext cx="713232" cy="868680"/>
          </a:xfrm>
          <a:prstGeom prst="rect">
            <a:avLst/>
          </a:prstGeom>
          <a:solidFill>
            <a:srgbClr val="21262D"/>
          </a:solidFill>
          <a:ln w="1905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5650992" y="1828800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50992" y="2212848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364224" y="2171700"/>
            <a:ext cx="13716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6501384" y="1737360"/>
            <a:ext cx="713232" cy="868680"/>
          </a:xfrm>
          <a:prstGeom prst="rect">
            <a:avLst/>
          </a:prstGeom>
          <a:solidFill>
            <a:srgbClr val="21262D"/>
          </a:solidFill>
          <a:ln w="1905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6501384" y="1828800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01384" y="2212848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14616" y="2171700"/>
            <a:ext cx="13716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7351776" y="1737360"/>
            <a:ext cx="713232" cy="868680"/>
          </a:xfrm>
          <a:prstGeom prst="rect">
            <a:avLst/>
          </a:prstGeom>
          <a:solidFill>
            <a:srgbClr val="21262D"/>
          </a:solidFill>
          <a:ln w="1905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7351776" y="1828800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51776" y="2212848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065008" y="2171700"/>
            <a:ext cx="13716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8202168" y="1737360"/>
            <a:ext cx="713232" cy="868680"/>
          </a:xfrm>
          <a:prstGeom prst="rect">
            <a:avLst/>
          </a:prstGeom>
          <a:solidFill>
            <a:srgbClr val="21262D"/>
          </a:solidFill>
          <a:ln w="1905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8202168" y="1828800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WB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02168" y="2212848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Back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111496" y="2834640"/>
            <a:ext cx="548640" cy="256032"/>
          </a:xfrm>
          <a:prstGeom prst="rect">
            <a:avLst/>
          </a:prstGeom>
          <a:solidFill>
            <a:srgbClr val="1A7F37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5111496" y="285292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IF/ID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961888" y="2834640"/>
            <a:ext cx="548640" cy="256032"/>
          </a:xfrm>
          <a:prstGeom prst="rect">
            <a:avLst/>
          </a:prstGeom>
          <a:solidFill>
            <a:srgbClr val="1A7F37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5961888" y="285292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ID/EX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812280" y="2834640"/>
            <a:ext cx="548640" cy="256032"/>
          </a:xfrm>
          <a:prstGeom prst="rect">
            <a:avLst/>
          </a:prstGeom>
          <a:solidFill>
            <a:srgbClr val="1A7F37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6812280" y="285292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EX/MEM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662672" y="2834640"/>
            <a:ext cx="548640" cy="256032"/>
          </a:xfrm>
          <a:prstGeom prst="rect">
            <a:avLst/>
          </a:prstGeom>
          <a:solidFill>
            <a:srgbClr val="1A7F37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7662672" y="285292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MEM/WB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480560" y="32004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de pipeline (síncronos con CLK)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26280" y="374904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Forwarding </a:t>
            </a: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Hazard Detection · Load-Use Stall · Branch Flush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Verilog HDL · ModelSim · Patterson &amp; Hennessy Cap. 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implementado: Test de Primalidad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Fase 3 — Instrucciones R · I · J (JAL / JR)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374904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48132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Dado N ∈ ℕ, determina si es primo probando divisores d = 2 … N−1.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Sin instrucción DIV, el módulo se calcula por restas sucesivas: se parte de rem = N y se resta d hasta que rem &lt; d.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54203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 rem = 0  →  N divisible  →  NO primo.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3072384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 ningún d produce rem = 0  →  PRIMO.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360273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El cálculo del módulo se encapsula en la subrutina mod_sub, invocada con JAL y que retorna con JR $ra.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41879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usados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462272"/>
          <a:ext cx="3703320" cy="59436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$t0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— número a evaluar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$t1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— divisor (2…N−1)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$t2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 — residuo parcial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$t4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result: 1=primo/0=no primo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$ra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dirección de retorno (JAL)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114800" y="1051560"/>
            <a:ext cx="4892040" cy="3931920"/>
          </a:xfrm>
          <a:prstGeom prst="rect">
            <a:avLst/>
          </a:prstGeom>
          <a:solidFill>
            <a:srgbClr val="0D1117"/>
          </a:solidFill>
          <a:ln w="1905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4251960" y="11155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 MIPS (ensamblador)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224528" y="1444752"/>
            <a:ext cx="4663440" cy="3401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lw   $t0, 16($zero)   # N</a:t>
            </a:r>
            <a:endParaRPr lang="en-US" sz="82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 $t1, $zero, 2    # i=2</a:t>
            </a:r>
            <a:endParaRPr lang="en-US" sz="82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 $t4, $zero, 1    # result=1</a:t>
            </a:r>
            <a:endParaRPr lang="en-US" sz="82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 $t6, $t0, -1     # N-1</a:t>
            </a:r>
            <a:endParaRPr lang="en-US" sz="820" dirty="0"/>
          </a:p>
          <a:p>
            <a:pPr marL="0" indent="0">
              <a:lnSpc>
                <a:spcPct val="135000"/>
              </a:lnSpc>
              <a:buNone/>
            </a:pPr>
            <a:endParaRPr lang="en-US" sz="82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outer_chk:</a:t>
            </a:r>
            <a:endParaRPr lang="en-US" sz="82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slt  $t3, $t6, $t1  # i&gt;N-1?</a:t>
            </a:r>
            <a:endParaRPr lang="en-US" sz="82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beq  $t3, $zero, skip</a:t>
            </a:r>
            <a:endParaRPr lang="en-US" sz="82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    save_result     # → primo</a:t>
            </a:r>
            <a:endParaRPr lang="en-US" sz="82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skip:</a:t>
            </a:r>
            <a:endParaRPr lang="en-US" sz="82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jal  mod_sub         # ← JAL</a:t>
            </a:r>
            <a:endParaRPr lang="en-US" sz="82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beq  $t2, $zero, no_p</a:t>
            </a:r>
            <a:endParaRPr lang="en-US" sz="82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addi $t1, $t1, 1    # i++</a:t>
            </a:r>
            <a:endParaRPr lang="en-US" sz="82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    outer_chk</a:t>
            </a:r>
            <a:endParaRPr lang="en-US" sz="820" dirty="0"/>
          </a:p>
          <a:p>
            <a:pPr marL="0" indent="0">
              <a:lnSpc>
                <a:spcPct val="135000"/>
              </a:lnSpc>
              <a:buNone/>
            </a:pPr>
            <a:endParaRPr lang="en-US" sz="82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mod_sub:               # subrutina</a:t>
            </a:r>
            <a:endParaRPr lang="en-US" sz="82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 $t2, $t0, $zero # rem=N</a:t>
            </a:r>
            <a:endParaRPr lang="en-US" sz="82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mod_loop:</a:t>
            </a:r>
            <a:endParaRPr lang="en-US" sz="82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slt  $t3, $t2, $t1</a:t>
            </a:r>
            <a:endParaRPr lang="en-US" sz="82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beq  $t3, $zero, sub</a:t>
            </a:r>
            <a:endParaRPr lang="en-US" sz="82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jr   $ra             # ← JR</a:t>
            </a:r>
            <a:endParaRPr lang="en-US" sz="82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sub:</a:t>
            </a:r>
            <a:endParaRPr lang="en-US" sz="82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  $t2, $t2, $t1</a:t>
            </a:r>
            <a:endParaRPr lang="en-US" sz="82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    mod_loop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simulación — ModelSim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2179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de </a:t>
            </a:r>
            <a:r>
              <a:rPr lang="en-US" sz="1100" dirty="0" err="1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Primalidad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" y="96012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binaria de señales</a:t>
            </a:r>
            <a:endParaRPr lang="en-US" sz="1000" dirty="0"/>
          </a:p>
        </p:txBody>
      </p:sp>
      <p:pic>
        <p:nvPicPr>
          <p:cNvPr id="6" name="Image 0" descr="/home/claude/sim_b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234439"/>
            <a:ext cx="7807928" cy="32394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9D98D5-2005-3B3A-93B6-2E8651728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8C6FE64-8278-2421-B7D0-9881B205F7DC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C308922-2049-4FA6-5142-B5E457C832F6}"/>
              </a:ext>
            </a:extLst>
          </p:cNvPr>
          <p:cNvSpPr/>
          <p:nvPr/>
        </p:nvSpPr>
        <p:spPr>
          <a:xfrm>
            <a:off x="228600" y="20116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simulación — ModelSim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D3918E9-B45B-CB19-B031-5604A8EB3DC8}"/>
              </a:ext>
            </a:extLst>
          </p:cNvPr>
          <p:cNvSpPr/>
          <p:nvPr/>
        </p:nvSpPr>
        <p:spPr>
          <a:xfrm>
            <a:off x="228600" y="62179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Waveform binaria y decimal</a:t>
            </a:r>
            <a:endParaRPr lang="en-US" sz="11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9EAD27B-7190-CD34-460C-BA1981C01EC9}"/>
              </a:ext>
            </a:extLst>
          </p:cNvPr>
          <p:cNvSpPr/>
          <p:nvPr/>
        </p:nvSpPr>
        <p:spPr>
          <a:xfrm>
            <a:off x="182880" y="925757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decimal — ejecución del algoritmo</a:t>
            </a:r>
            <a:endParaRPr lang="en-US" sz="10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B94ACB6-5164-0C4D-34B8-8F01BB98F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96" y="1119067"/>
            <a:ext cx="7344322" cy="353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10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Verilog implementados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2179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Descripción de cada archivo .v del proyecto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4206240" cy="4343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384048" cy="4343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182880" y="1005840"/>
            <a:ext cx="3840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792" y="10424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PC.v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1792" y="1216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de programa. Registro de 32 bits que actualiza en flanco ↑CLK. Con stall congela su valor (mantiene PC actual).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182880" y="1495044"/>
            <a:ext cx="4206240" cy="4343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182880" y="1495044"/>
            <a:ext cx="384048" cy="4343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182880" y="1495044"/>
            <a:ext cx="3840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1792" y="15316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InstructionMemory.v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1792" y="17053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 de 256×32 bits. Lectura combinacional pura. Cargada con $readmemb al inicio de la simulación.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182880" y="1984248"/>
            <a:ext cx="4206240" cy="4343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182880" y="1984248"/>
            <a:ext cx="384048" cy="43434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182880" y="1984248"/>
            <a:ext cx="3840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1792" y="202082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RegisterFile.v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1792" y="21945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32 registros × 32 bits. Doble lectura combinacional. Escritura síncrona en ↑CLK. $zero cableado a 0.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182880" y="2473452"/>
            <a:ext cx="4206240" cy="4343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182880" y="2473452"/>
            <a:ext cx="384048" cy="43434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182880" y="2473452"/>
            <a:ext cx="3840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1792" y="25100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Control.v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1792" y="26837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 el opcode de 6 bits y genera: RegDst, ALUSrc, MemtoReg, RegWrite, MemRead, MemWrite, Branch, Jump, ALUOp[1:0].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182880" y="2962656"/>
            <a:ext cx="4206240" cy="4343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182880" y="2962656"/>
            <a:ext cx="384048" cy="43434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182880" y="2962656"/>
            <a:ext cx="3840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1792" y="29992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ALU.v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1792" y="31729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Ejecuta: AND, OR, ADD, SUB, SLT, SLL, SRL (+ NOR/XOR por funct). Genera señal zero para BEQ.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4800600" y="1005840"/>
            <a:ext cx="4206240" cy="4343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4800600" y="1005840"/>
            <a:ext cx="384048" cy="43434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4800600" y="1005840"/>
            <a:ext cx="3840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39512" y="10424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ALUControl.v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39512" y="1216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ALUOp[1:0] y funct[5:0] decide la operación exacta: Tipo R → decode funct; addi/lw/sw → ADD; beq → SUB.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4800600" y="1495044"/>
            <a:ext cx="4206240" cy="4343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4800600" y="1495044"/>
            <a:ext cx="384048" cy="434340"/>
          </a:xfrm>
          <a:prstGeom prst="rect">
            <a:avLst/>
          </a:prstGeom>
          <a:solidFill>
            <a:srgbClr val="C9D1D9"/>
          </a:solidFill>
          <a:ln w="12700">
            <a:solidFill>
              <a:srgbClr val="C9D1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4800600" y="1495044"/>
            <a:ext cx="3840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39512" y="15316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DataMemory.v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239512" y="17053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256×32 bits. Lectura combinacional (MemRead). Escritura síncrona (MemWrite). Palabras de 32 bits alineadas.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4800600" y="1984248"/>
            <a:ext cx="4206240" cy="4343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Shape 39"/>
          <p:cNvSpPr/>
          <p:nvPr/>
        </p:nvSpPr>
        <p:spPr>
          <a:xfrm>
            <a:off x="4800600" y="1984248"/>
            <a:ext cx="384048" cy="434340"/>
          </a:xfrm>
          <a:prstGeom prst="rect">
            <a:avLst/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4800600" y="1984248"/>
            <a:ext cx="3840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239512" y="202082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IF_ID / ID_EX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239512" y="21945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síncronos entre etapas IF→ID e ID→EX. Soportan flush (saltos) y enable/stall (load-use hazard). Reset activo-alto.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4800600" y="2473452"/>
            <a:ext cx="4206240" cy="4343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Shape 44"/>
          <p:cNvSpPr/>
          <p:nvPr/>
        </p:nvSpPr>
        <p:spPr>
          <a:xfrm>
            <a:off x="4800600" y="2473452"/>
            <a:ext cx="384048" cy="434340"/>
          </a:xfrm>
          <a:prstGeom prst="rect">
            <a:avLst/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5"/>
          <p:cNvSpPr/>
          <p:nvPr/>
        </p:nvSpPr>
        <p:spPr>
          <a:xfrm>
            <a:off x="4800600" y="2473452"/>
            <a:ext cx="3840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239512" y="25100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EX_MEM / MEM_WB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239512" y="26837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síncronos entre etapas EX→MEM y MEM→WB. Propagan señales de control y datos hacia las etapas siguientes.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4800600" y="2962656"/>
            <a:ext cx="4206240" cy="4343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Shape 49"/>
          <p:cNvSpPr/>
          <p:nvPr/>
        </p:nvSpPr>
        <p:spPr>
          <a:xfrm>
            <a:off x="4800600" y="2962656"/>
            <a:ext cx="384048" cy="43434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Text 50"/>
          <p:cNvSpPr/>
          <p:nvPr/>
        </p:nvSpPr>
        <p:spPr>
          <a:xfrm>
            <a:off x="4800600" y="2962656"/>
            <a:ext cx="3840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239512" y="29992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MIPS_Top.v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239512" y="31729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raíz: interconecta todos los bloques. Contiene la Forwarding Unit (EX→EX, MEM→EX) y Hazard Detection Unit.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5 Etapas — Hazards y Soluciones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2179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Forwarding · Load-Use Stall · Branch Flush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24128"/>
            <a:ext cx="877824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82880" y="1024128"/>
            <a:ext cx="54864" cy="1188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47472" y="10789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de Datos (RAW)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35331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</a:t>
            </a: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instrucción necesita el resultado de la anterior antes de que llegue a WB.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1709928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</a:t>
            </a: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Forwarding: el resultado de EX/MEM o MEM/WB se reenvía directamente a la entrada de la ALU (bypassing), sin esperar que se escriba en el banco de registros.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97880" y="1115568"/>
            <a:ext cx="292608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989320" y="1225296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$t1,$t2,$t3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$t4,$t1,$t5  ← necesita $t1 de EX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2322576"/>
            <a:ext cx="877824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182880" y="2322576"/>
            <a:ext cx="54864" cy="11887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347472" y="23774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Load-Use Hazard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" y="2651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</a:t>
            </a: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lw seguido inmediatamente de una instrucción que usa el registro cargado; el dato no está disponible en la etapa EX.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472" y="3008376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</a:t>
            </a: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Detection Unit: congela PC e IF/ID por un ciclo e inserta una burbuja (NOP) en ID/EX. Después el forwarding MEM→EX resuelve el resto.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97880" y="2414016"/>
            <a:ext cx="292608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5989320" y="2523744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lw  $t1, 0($t2)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$t3,$t1,$t4  ← stall 1 ciclo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3621024"/>
            <a:ext cx="877824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182880" y="3621024"/>
            <a:ext cx="54864" cy="11887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347472" y="36758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de Control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" y="395020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</a:t>
            </a: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BEQ, J, JAL y JR modifican el PC; las instrucciones siguiente ya se leyeron incorrectamente del pipeline.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7472" y="4306824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</a:t>
            </a: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Flush: al detectar el salto (EX para BEQ; ID para J/JAL/JR) se limpian los buffers IF/ID e ID/EX, eliminando instrucciones incorrectas (squash).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97880" y="3712464"/>
            <a:ext cx="292608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5989320" y="382219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beq $t0,$t1,label  ← flush IF/ID,ID/EX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jal mod_sub        ← flush en ID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 — Set de instrucciones implementado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2179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instrucciones · Formato fijo de 32 bits (RISC)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9875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R  — opcode 000000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298448"/>
          <a:ext cx="4114800" cy="25603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Instrucción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Operación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100000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= rs + 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100010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= rs − 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and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100100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= rs &amp; 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100101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= rs | 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slt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101010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= (rs&lt;rt)?1:0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sll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000000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= rt &lt;&lt; shamt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srl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000010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= rt &gt;&gt; shamt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3B3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jr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3B3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001000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3B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 = 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nop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000000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operación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4663440" y="9875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I y Tipo J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298448"/>
          <a:ext cx="4297680" cy="281635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Instrucción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opcode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Operación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781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lw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100011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 = MEM[rs+imm]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781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sw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101011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MEM[rs+imm] = 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781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beq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000100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rs==rt: salta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781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addi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001000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 = rs + imm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781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slti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001010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 = (rs&lt;imm)?1:0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781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andi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001100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 = rs &amp; imm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781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ori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001101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 = rs | imm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3B3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3B3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000010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3B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 = target&lt;&lt;2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3B3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jal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3B34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000011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3B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$ra=PC+4; salta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781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bne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000101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9D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rs≠rt: salta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182880" y="4297680"/>
            <a:ext cx="87782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6"/>
          <p:cNvSpPr/>
          <p:nvPr/>
        </p:nvSpPr>
        <p:spPr>
          <a:xfrm>
            <a:off x="365760" y="435254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Tipo R: </a:t>
            </a: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opcode 6 | rs 5 | rt 5 | rd 5 | shamt 5 | funct 6 |   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Tipo I: 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opcode 6 | rs 5 | rt 5 | imm/offset 16 |   </a:t>
            </a:r>
            <a:r>
              <a:rPr lang="en-US" sz="9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Tipo J: </a:t>
            </a: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opcode 6 | target 26 |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Python — assembler.py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2179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Traduce código ensamblador MIPS a código binario/máquina (.mem)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411480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320040" y="1078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assembler.py?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384048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65760" y="14447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— Primer pasada (first_pass)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el .asm, ignora comentarios (#) y directivas (.), y asigna a cada etiqueta el índice de instrucción correspondiente.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984248"/>
            <a:ext cx="384048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65760" y="20116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— Codificación (encode)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212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instrucción detecta el tipo (R/I/J) y construye el campo de 32 bits concatenando opcode, registros, shamt, funct o imm usando to_bin().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2551176"/>
            <a:ext cx="384048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365760" y="25786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7797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 opcode=0, rs, rt, rd, shamt y funct según la tabla. Casos especiales: sll/srl usan rs=0 y el campo shamt.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3118104"/>
            <a:ext cx="384048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365760" y="314553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I — BEQ/BNE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33467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el offset como target_pc − (pc_idx + 1), relativo a PC+4 en palabras, conforme al estándar MIPS.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3685032"/>
            <a:ext cx="384048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365760" y="37124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J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3913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la etiqueta a dirección byte (idx×4) y extrae los 26 bits del campo target (target_addr &gt;&gt; 2).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4251960"/>
            <a:ext cx="384048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365760" y="42793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.mem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un archivo de texto con una instrucción de 32 bits por línea, compatible con $readmemb de Verilog. Opción --hex para hex, --decode para verificar.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434840" y="1005840"/>
            <a:ext cx="4572000" cy="3931920"/>
          </a:xfrm>
          <a:prstGeom prst="rect">
            <a:avLst/>
          </a:prstGeom>
          <a:solidFill>
            <a:srgbClr val="0D1117"/>
          </a:solidFill>
          <a:ln w="1905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4553712" y="107899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Fragmento de assembler.py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53712" y="1325880"/>
            <a:ext cx="42976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78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</a:t>
            </a:r>
            <a:r>
              <a:rPr lang="en-US" sz="7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(lineno, mnemonic, ops_raw, pc_idx, labels):
</a:t>
            </a:r>
            <a:r>
              <a:rPr lang="en-US" sz="7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── Tipo R ───────────────────────
</a:t>
            </a:r>
            <a:r>
              <a:rPr lang="en-US" sz="78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r>
              <a:rPr lang="en-US" sz="7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mnemonic in </a:t>
            </a:r>
            <a:r>
              <a:rPr lang="en-US" sz="78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TYPE_R:
</a:t>
            </a:r>
            <a:r>
              <a:rPr lang="en-US" sz="7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funct = TYPE_R[mnemonic]
</a:t>
            </a:r>
            <a:r>
              <a:rPr lang="en-US" sz="78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r>
              <a:rPr lang="en-US" sz="7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mnemonic in </a:t>
            </a:r>
            <a:r>
              <a:rPr lang="en-US" sz="78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('sll','srl'):
</a:t>
            </a:r>
            <a:r>
              <a:rPr lang="en-US" sz="7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rd=parse_reg(ops[0]); rt=parse_reg(ops[1])
      shamt=parse_int(ops[2])
</a:t>
            </a:r>
            <a:r>
              <a:rPr lang="en-US" sz="78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</a:t>
            </a:r>
            <a:r>
              <a:rPr lang="en-US" sz="7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(to_bin(0,6)+to_bin(0,5)+to_bin(rt,5)
        +to_bin(rd,5)+to_bin(shamt,5)+to_bin(funct,6))
</a:t>
            </a:r>
            <a:r>
              <a:rPr lang="en-US" sz="7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── BEQ offset relativo ──────────
</a:t>
            </a:r>
            <a:r>
              <a:rPr lang="en-US" sz="78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r>
              <a:rPr lang="en-US" sz="7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mnemonic in </a:t>
            </a:r>
            <a:r>
              <a:rPr lang="en-US" sz="78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('beq','bne'):
</a:t>
            </a:r>
            <a:r>
              <a:rPr lang="en-US" sz="78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offset = target_pc − (pc_idx + 1)  # PC+4/4
</a:t>
            </a:r>
            <a:r>
              <a:rPr lang="en-US" sz="78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7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(to_bin(op,6)+to_bin(rs,5)
     +to_bin(rt,5)+to_bin(offset,16))
</a:t>
            </a:r>
            <a:r>
              <a:rPr lang="en-US" sz="7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── Tipo J (j / jal) ─────────────
</a:t>
            </a:r>
            <a:r>
              <a:rPr lang="en-US" sz="78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r>
              <a:rPr lang="en-US" sz="7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mnemonic == </a:t>
            </a:r>
            <a:r>
              <a:rPr lang="en-US" sz="78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'j':
</a:t>
            </a:r>
            <a:r>
              <a:rPr lang="en-US" sz="7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target_addr = labels[target]*4
</a:t>
            </a:r>
            <a:r>
              <a:rPr lang="en-US" sz="78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78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(to_bin(op,6)+to_bin(target_addr&gt;&gt;2, 26))
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182880" y="4663440"/>
            <a:ext cx="8778240" cy="36576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320040" y="472744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</a:t>
            </a:r>
            <a:r>
              <a:rPr lang="en-US" sz="95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assembler.py primality_test.asm -o TestF3.mem --decode --hex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del equipo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1115568"/>
            <a:ext cx="429768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82880" y="1115568"/>
            <a:ext cx="4297680" cy="36576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20040" y="12070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González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527048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implementación del datapath reveló cómo cada señal de control afecta el flujo de datos en cada ciclo. La codificación manual (opcode, funct, campos) consolida la comprensión de la interfaz hardware/software.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115568"/>
            <a:ext cx="429768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663440" y="1115568"/>
            <a:ext cx="4297680" cy="36576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800600" y="12070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Derek Casillas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527048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buffers de pipeline parecen simples registros, pero obligan a propagar exactamente las señales que la etapa siguiente necesita. Codificar BEQ con offsets correctos fue la prueba más directa del formato Tipo I.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2971800"/>
            <a:ext cx="429768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182880" y="2971800"/>
            <a:ext cx="4297680" cy="36576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320040" y="30632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Iván Ortiz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338328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capítulo 4.6 de Patterson &amp; Hennessy dejó claro que el pipeline no es una optimización del single-cycle: es un cambio arquitectónico donde todos los buffers y el PC deben compartir el mismo flanco de reloj.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429768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4663440" y="2971800"/>
            <a:ext cx="4297680" cy="36576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4800600" y="30632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Luna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38328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el test de primalidad con JAL/JR demostró que con un ISA mínimo es posible la programación estructurada. Sin instrucción DIV, las restas sucesivas ilustran cómo el ISA condiciona los algoritmos.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914400"/>
            <a:ext cx="6400800" cy="3291840"/>
          </a:xfrm>
          <a:prstGeom prst="rect">
            <a:avLst/>
          </a:prstGeom>
          <a:solidFill>
            <a:srgbClr val="0D1117"/>
          </a:solidFill>
          <a:ln w="1905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554480" y="109728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Procesador MIPS 32-bit</a:t>
            </a:r>
            <a:endParaRPr lang="en-US" sz="2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Pipeline de 5 Etapas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214884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→ ID → EX → MEM → WB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0" y="2578608"/>
            <a:ext cx="4572000" cy="0"/>
          </a:xfrm>
          <a:prstGeom prst="line">
            <a:avLst/>
          </a:prstGeom>
          <a:noFill/>
          <a:ln w="9525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554480" y="269748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Materia: Arquitectura de Computadoras — CUCEI, UDG</a:t>
            </a:r>
            <a:endParaRPr lang="en-US" sz="105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Profesor: Jorge Ernesto López Arce Delgado</a:t>
            </a:r>
            <a:endParaRPr lang="en-US" sz="105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González · Casillas · Ortiz · Luna · Mayo 2026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54480" y="43434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2038</Words>
  <Application>Microsoft Office PowerPoint</Application>
  <PresentationFormat>Presentación en pantalla (16:9)</PresentationFormat>
  <Paragraphs>241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MIPS 32-bit Pipeline — Fase 3</dc:title>
  <dc:subject>PptxGenJS Presentation</dc:subject>
  <dc:creator>PptxGenJS</dc:creator>
  <cp:lastModifiedBy>omar luna</cp:lastModifiedBy>
  <cp:revision>2</cp:revision>
  <dcterms:created xsi:type="dcterms:W3CDTF">2026-05-23T21:54:15Z</dcterms:created>
  <dcterms:modified xsi:type="dcterms:W3CDTF">2026-05-23T22:00:11Z</dcterms:modified>
</cp:coreProperties>
</file>