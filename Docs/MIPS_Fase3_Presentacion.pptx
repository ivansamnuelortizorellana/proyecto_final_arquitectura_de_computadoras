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65" r:id="rId5"/>
    <p:sldId id="259" r:id="rId6"/>
    <p:sldId id="260" r:id="rId7"/>
    <p:sldId id="261" r:id="rId8"/>
    <p:sldId id="262" r:id="rId9"/>
    <p:sldId id="263" r:id="rId10"/>
    <p:sldId id="264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213716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3A5F44-A3F4-6491-1EBF-2C5C3F516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D6AD39-6744-B98D-9C09-5C3AEACF5A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1E99B49-003B-33E0-0527-C692D28C19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704513-37D0-D4EF-3A75-321B3721A92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594528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389120" cy="5143500"/>
          </a:xfrm>
          <a:prstGeom prst="rect">
            <a:avLst/>
          </a:prstGeom>
          <a:solidFill>
            <a:srgbClr val="161B22"/>
          </a:solidFill>
          <a:ln w="12700">
            <a:solidFill>
              <a:srgbClr val="161B22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3" name="Shape 1"/>
          <p:cNvSpPr/>
          <p:nvPr/>
        </p:nvSpPr>
        <p:spPr>
          <a:xfrm>
            <a:off x="4389120" y="0"/>
            <a:ext cx="45720" cy="5143500"/>
          </a:xfrm>
          <a:prstGeom prst="rect">
            <a:avLst/>
          </a:prstGeom>
          <a:solidFill>
            <a:srgbClr val="39D353"/>
          </a:solidFill>
          <a:ln w="12700">
            <a:solidFill>
              <a:srgbClr val="39D353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4" name="Text 2"/>
          <p:cNvSpPr/>
          <p:nvPr/>
        </p:nvSpPr>
        <p:spPr>
          <a:xfrm>
            <a:off x="36576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CUCEI · UDG · Arquitectura de Computadoras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685800"/>
            <a:ext cx="3657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Procesador</a:t>
            </a:r>
            <a:endParaRPr lang="en-US" sz="36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MIPS 32-bit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365760" y="214884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9D3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Pipeline de 5 Etapas · Fase 3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65760" y="260604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→ ID → EX → MEM → WB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31546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Integrantes: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3456432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Diego González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3712464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Derek Casillas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3968496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Iván Ortiz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4224528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Omar Luna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65760" y="47548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Mayo 2026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800600" y="1737360"/>
            <a:ext cx="713232" cy="868680"/>
          </a:xfrm>
          <a:prstGeom prst="rect">
            <a:avLst/>
          </a:prstGeom>
          <a:solidFill>
            <a:srgbClr val="21262D"/>
          </a:solidFill>
          <a:ln w="19050">
            <a:solidFill>
              <a:srgbClr val="39D353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5" name="Text 13"/>
          <p:cNvSpPr/>
          <p:nvPr/>
        </p:nvSpPr>
        <p:spPr>
          <a:xfrm>
            <a:off x="4800600" y="1828800"/>
            <a:ext cx="71323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9D3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800600" y="2212848"/>
            <a:ext cx="7132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5513832" y="2171700"/>
            <a:ext cx="137160" cy="0"/>
          </a:xfrm>
          <a:prstGeom prst="line">
            <a:avLst/>
          </a:prstGeom>
          <a:noFill/>
          <a:ln w="25400">
            <a:solidFill>
              <a:srgbClr val="58A6FF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8" name="Shape 16"/>
          <p:cNvSpPr/>
          <p:nvPr/>
        </p:nvSpPr>
        <p:spPr>
          <a:xfrm>
            <a:off x="5650992" y="1737360"/>
            <a:ext cx="713232" cy="868680"/>
          </a:xfrm>
          <a:prstGeom prst="rect">
            <a:avLst/>
          </a:prstGeom>
          <a:solidFill>
            <a:srgbClr val="21262D"/>
          </a:solidFill>
          <a:ln w="19050">
            <a:solidFill>
              <a:srgbClr val="39D353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9" name="Text 17"/>
          <p:cNvSpPr/>
          <p:nvPr/>
        </p:nvSpPr>
        <p:spPr>
          <a:xfrm>
            <a:off x="5650992" y="1828800"/>
            <a:ext cx="71323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9D3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650992" y="2212848"/>
            <a:ext cx="7132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6364224" y="2171700"/>
            <a:ext cx="137160" cy="0"/>
          </a:xfrm>
          <a:prstGeom prst="line">
            <a:avLst/>
          </a:prstGeom>
          <a:noFill/>
          <a:ln w="25400">
            <a:solidFill>
              <a:srgbClr val="58A6FF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2" name="Shape 20"/>
          <p:cNvSpPr/>
          <p:nvPr/>
        </p:nvSpPr>
        <p:spPr>
          <a:xfrm>
            <a:off x="6501384" y="1737360"/>
            <a:ext cx="713232" cy="868680"/>
          </a:xfrm>
          <a:prstGeom prst="rect">
            <a:avLst/>
          </a:prstGeom>
          <a:solidFill>
            <a:srgbClr val="21262D"/>
          </a:solidFill>
          <a:ln w="19050">
            <a:solidFill>
              <a:srgbClr val="39D353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3" name="Text 21"/>
          <p:cNvSpPr/>
          <p:nvPr/>
        </p:nvSpPr>
        <p:spPr>
          <a:xfrm>
            <a:off x="6501384" y="1828800"/>
            <a:ext cx="71323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9D3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501384" y="2212848"/>
            <a:ext cx="7132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7214616" y="2171700"/>
            <a:ext cx="137160" cy="0"/>
          </a:xfrm>
          <a:prstGeom prst="line">
            <a:avLst/>
          </a:prstGeom>
          <a:noFill/>
          <a:ln w="25400">
            <a:solidFill>
              <a:srgbClr val="58A6FF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6" name="Shape 24"/>
          <p:cNvSpPr/>
          <p:nvPr/>
        </p:nvSpPr>
        <p:spPr>
          <a:xfrm>
            <a:off x="7351776" y="1737360"/>
            <a:ext cx="713232" cy="868680"/>
          </a:xfrm>
          <a:prstGeom prst="rect">
            <a:avLst/>
          </a:prstGeom>
          <a:solidFill>
            <a:srgbClr val="21262D"/>
          </a:solidFill>
          <a:ln w="19050">
            <a:solidFill>
              <a:srgbClr val="39D353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7" name="Text 25"/>
          <p:cNvSpPr/>
          <p:nvPr/>
        </p:nvSpPr>
        <p:spPr>
          <a:xfrm>
            <a:off x="7351776" y="1828800"/>
            <a:ext cx="71323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9D3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7351776" y="2212848"/>
            <a:ext cx="7132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8065008" y="2171700"/>
            <a:ext cx="137160" cy="0"/>
          </a:xfrm>
          <a:prstGeom prst="line">
            <a:avLst/>
          </a:prstGeom>
          <a:noFill/>
          <a:ln w="25400">
            <a:solidFill>
              <a:srgbClr val="58A6FF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30" name="Shape 28"/>
          <p:cNvSpPr/>
          <p:nvPr/>
        </p:nvSpPr>
        <p:spPr>
          <a:xfrm>
            <a:off x="8202168" y="1737360"/>
            <a:ext cx="713232" cy="868680"/>
          </a:xfrm>
          <a:prstGeom prst="rect">
            <a:avLst/>
          </a:prstGeom>
          <a:solidFill>
            <a:srgbClr val="21262D"/>
          </a:solidFill>
          <a:ln w="19050">
            <a:solidFill>
              <a:srgbClr val="39D353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31" name="Text 29"/>
          <p:cNvSpPr/>
          <p:nvPr/>
        </p:nvSpPr>
        <p:spPr>
          <a:xfrm>
            <a:off x="8202168" y="1828800"/>
            <a:ext cx="71323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9D3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WB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8202168" y="2212848"/>
            <a:ext cx="7132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Back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5111496" y="2834640"/>
            <a:ext cx="548640" cy="256032"/>
          </a:xfrm>
          <a:prstGeom prst="rect">
            <a:avLst/>
          </a:prstGeom>
          <a:solidFill>
            <a:srgbClr val="1A7F37"/>
          </a:solidFill>
          <a:ln w="12700">
            <a:solidFill>
              <a:srgbClr val="39D353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34" name="Text 32"/>
          <p:cNvSpPr/>
          <p:nvPr/>
        </p:nvSpPr>
        <p:spPr>
          <a:xfrm>
            <a:off x="5111496" y="2852928"/>
            <a:ext cx="548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F0F6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IF/ID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5961888" y="2834640"/>
            <a:ext cx="548640" cy="256032"/>
          </a:xfrm>
          <a:prstGeom prst="rect">
            <a:avLst/>
          </a:prstGeom>
          <a:solidFill>
            <a:srgbClr val="1A7F37"/>
          </a:solidFill>
          <a:ln w="12700">
            <a:solidFill>
              <a:srgbClr val="39D353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36" name="Text 34"/>
          <p:cNvSpPr/>
          <p:nvPr/>
        </p:nvSpPr>
        <p:spPr>
          <a:xfrm>
            <a:off x="5961888" y="2852928"/>
            <a:ext cx="548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F0F6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ID/EX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6812280" y="2834640"/>
            <a:ext cx="548640" cy="256032"/>
          </a:xfrm>
          <a:prstGeom prst="rect">
            <a:avLst/>
          </a:prstGeom>
          <a:solidFill>
            <a:srgbClr val="1A7F37"/>
          </a:solidFill>
          <a:ln w="12700">
            <a:solidFill>
              <a:srgbClr val="39D353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38" name="Text 36"/>
          <p:cNvSpPr/>
          <p:nvPr/>
        </p:nvSpPr>
        <p:spPr>
          <a:xfrm>
            <a:off x="6812280" y="2852928"/>
            <a:ext cx="548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F0F6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EX/MEM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7662672" y="2834640"/>
            <a:ext cx="548640" cy="256032"/>
          </a:xfrm>
          <a:prstGeom prst="rect">
            <a:avLst/>
          </a:prstGeom>
          <a:solidFill>
            <a:srgbClr val="1A7F37"/>
          </a:solidFill>
          <a:ln w="12700">
            <a:solidFill>
              <a:srgbClr val="39D353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40" name="Text 38"/>
          <p:cNvSpPr/>
          <p:nvPr/>
        </p:nvSpPr>
        <p:spPr>
          <a:xfrm>
            <a:off x="7662672" y="2852928"/>
            <a:ext cx="548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F0F6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MEM/WB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4480560" y="3200400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Buffers de pipeline (síncronos con CLK)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526280" y="374904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3B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Forwarding </a:t>
            </a: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Hazard Detection · Load-Use Stall · Branch Flush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Verilog HDL · ModelSim · Patterson &amp; Hennessy Cap. 4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39D353"/>
          </a:solidFill>
          <a:ln w="12700">
            <a:solidFill>
              <a:srgbClr val="39D353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3" name="Text 1"/>
          <p:cNvSpPr/>
          <p:nvPr/>
        </p:nvSpPr>
        <p:spPr>
          <a:xfrm>
            <a:off x="228600" y="201168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Algoritmo implementado: Test de Primalidad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228600" y="658368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9D3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Fase 3 — Instrucciones R · I · J (JAL / JR)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05740" y="932688"/>
            <a:ext cx="3749040" cy="347472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</p:spPr>
        <p:txBody>
          <a:bodyPr/>
          <a:lstStyle/>
          <a:p>
            <a:endParaRPr lang="es-MX" dirty="0"/>
          </a:p>
        </p:txBody>
      </p:sp>
      <p:sp>
        <p:nvSpPr>
          <p:cNvPr id="6" name="Text 4"/>
          <p:cNvSpPr/>
          <p:nvPr/>
        </p:nvSpPr>
        <p:spPr>
          <a:xfrm>
            <a:off x="320040" y="1143000"/>
            <a:ext cx="3474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hace?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20040" y="1481328"/>
            <a:ext cx="3474720" cy="34094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Dado N ∈ ℕ, determina si es primo probando divisores d = 2 … N−1.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1917627"/>
            <a:ext cx="3474720" cy="34094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Sin instrucción DIV, el módulo se calcula por restas sucesivas: se parte de rem = N y se resta d hasta que rem &lt; d.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20040" y="2337925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Si rem = 0  →  N divisible  →  NO primo.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20040" y="2620736"/>
            <a:ext cx="3474720" cy="33800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Si ningún d produce rem = 0  →  PRIMO.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74320" y="2920855"/>
            <a:ext cx="3474720" cy="40037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El cálculo del módulo se encapsula en la subrutina mod_sub, invocada con JAL y que retorna con JR $ra.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74320" y="3403854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3B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 usados</a:t>
            </a:r>
            <a:endParaRPr lang="en-US" sz="11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179051"/>
              </p:ext>
            </p:extLst>
          </p:nvPr>
        </p:nvGraphicFramePr>
        <p:xfrm>
          <a:off x="251460" y="3744468"/>
          <a:ext cx="3703320" cy="1143000"/>
        </p:xfrm>
        <a:graphic>
          <a:graphicData uri="http://schemas.openxmlformats.org/drawingml/2006/table">
            <a:tbl>
              <a:tblPr/>
              <a:tblGrid>
                <a:gridCol w="685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188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39D35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$t0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6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F0F6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— número a evaluar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6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88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39D35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$t1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6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F0F6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 — divisor (2…N−1)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6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88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39D35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$t2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6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F0F6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 — residuo parcial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6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88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39D35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$t4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6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F0F6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result: 1=primo/0=no primo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6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88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39D35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$ra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6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F0F6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dirección de retorno (JAL)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6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4" name="Shape 11"/>
          <p:cNvSpPr/>
          <p:nvPr/>
        </p:nvSpPr>
        <p:spPr>
          <a:xfrm>
            <a:off x="4046220" y="950976"/>
            <a:ext cx="4892040" cy="3931920"/>
          </a:xfrm>
          <a:prstGeom prst="rect">
            <a:avLst/>
          </a:prstGeom>
          <a:solidFill>
            <a:srgbClr val="0D1117"/>
          </a:solidFill>
          <a:ln w="19050">
            <a:solidFill>
              <a:srgbClr val="1A7F37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5" name="Text 12"/>
          <p:cNvSpPr/>
          <p:nvPr/>
        </p:nvSpPr>
        <p:spPr>
          <a:xfrm>
            <a:off x="4046220" y="969264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3B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Pseudocódigo MIPS (ensamblador)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4160520" y="1679883"/>
            <a:ext cx="3688951" cy="26360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700" dirty="0">
                <a:solidFill>
                  <a:srgbClr val="39D3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lw   $t0, 16($zero)   # N</a:t>
            </a:r>
            <a:endParaRPr lang="en-US" sz="7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700" dirty="0">
                <a:solidFill>
                  <a:srgbClr val="39D3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addi $t1, $zero, 2    # i=2</a:t>
            </a:r>
            <a:endParaRPr lang="en-US" sz="7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700" dirty="0">
                <a:solidFill>
                  <a:srgbClr val="39D3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addi $t4, $zero, 1    # result=1</a:t>
            </a:r>
            <a:endParaRPr lang="en-US" sz="7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700" dirty="0">
                <a:solidFill>
                  <a:srgbClr val="39D3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addi $t6, $t0, -1     # N-1</a:t>
            </a:r>
            <a:endParaRPr lang="en-US" sz="700" dirty="0"/>
          </a:p>
          <a:p>
            <a:pPr marL="0" indent="0">
              <a:lnSpc>
                <a:spcPct val="135000"/>
              </a:lnSpc>
              <a:buNone/>
            </a:pPr>
            <a:endParaRPr lang="en-US" sz="7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700" dirty="0">
                <a:solidFill>
                  <a:srgbClr val="39D3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outer_chk:</a:t>
            </a:r>
            <a:endParaRPr lang="en-US" sz="7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700" dirty="0">
                <a:solidFill>
                  <a:srgbClr val="39D3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slt  $t3, $t6, $t1  # i&gt;N-1?</a:t>
            </a:r>
            <a:endParaRPr lang="en-US" sz="7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700" dirty="0">
                <a:solidFill>
                  <a:srgbClr val="39D3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beq  $t3, $zero, skip</a:t>
            </a:r>
            <a:endParaRPr lang="en-US" sz="7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700" dirty="0">
                <a:solidFill>
                  <a:srgbClr val="39D3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j    save_result     # → primo</a:t>
            </a:r>
            <a:endParaRPr lang="en-US" sz="7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700" dirty="0">
                <a:solidFill>
                  <a:srgbClr val="39D3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skip:</a:t>
            </a:r>
            <a:endParaRPr lang="en-US" sz="7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700" dirty="0">
                <a:solidFill>
                  <a:srgbClr val="39D3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jal  mod_sub         # ← JAL</a:t>
            </a:r>
            <a:endParaRPr lang="en-US" sz="7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700" dirty="0">
                <a:solidFill>
                  <a:srgbClr val="39D3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beq  $t2, $zero, no_p</a:t>
            </a:r>
            <a:endParaRPr lang="en-US" sz="7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700" dirty="0">
                <a:solidFill>
                  <a:srgbClr val="39D3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addi $t1, $t1, 1    # i++</a:t>
            </a:r>
            <a:endParaRPr lang="en-US" sz="7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700" dirty="0">
                <a:solidFill>
                  <a:srgbClr val="39D3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j    outer_chk</a:t>
            </a:r>
            <a:endParaRPr lang="en-US" sz="700" dirty="0"/>
          </a:p>
          <a:p>
            <a:pPr marL="0" indent="0">
              <a:lnSpc>
                <a:spcPct val="135000"/>
              </a:lnSpc>
              <a:buNone/>
            </a:pPr>
            <a:endParaRPr lang="en-US" sz="7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700" dirty="0">
                <a:solidFill>
                  <a:srgbClr val="39D3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mod_sub:               # subrutina</a:t>
            </a:r>
            <a:endParaRPr lang="en-US" sz="7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700" dirty="0">
                <a:solidFill>
                  <a:srgbClr val="39D3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add  $t2, $t0, $zero # rem=N</a:t>
            </a:r>
            <a:endParaRPr lang="en-US" sz="7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700" dirty="0">
                <a:solidFill>
                  <a:srgbClr val="39D3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mod_loop:</a:t>
            </a:r>
            <a:endParaRPr lang="en-US" sz="7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700" dirty="0">
                <a:solidFill>
                  <a:srgbClr val="39D3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slt  $t3, $t2, $t1</a:t>
            </a:r>
            <a:endParaRPr lang="en-US" sz="7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700" dirty="0">
                <a:solidFill>
                  <a:srgbClr val="39D3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beq  $t3, $zero, sub</a:t>
            </a:r>
            <a:endParaRPr lang="en-US" sz="7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700" dirty="0">
                <a:solidFill>
                  <a:srgbClr val="39D3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jr   $ra             # ← JR</a:t>
            </a:r>
            <a:endParaRPr lang="en-US" sz="7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700" dirty="0">
                <a:solidFill>
                  <a:srgbClr val="39D3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sub:</a:t>
            </a:r>
            <a:endParaRPr lang="en-US" sz="7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700" dirty="0">
                <a:solidFill>
                  <a:srgbClr val="39D3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sub  $t2, $t2, $t1</a:t>
            </a:r>
            <a:endParaRPr lang="en-US" sz="7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700" dirty="0">
                <a:solidFill>
                  <a:srgbClr val="39D3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j    mod_loop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39D353"/>
          </a:solidFill>
          <a:ln w="12700">
            <a:solidFill>
              <a:srgbClr val="39D353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3" name="Text 1"/>
          <p:cNvSpPr/>
          <p:nvPr/>
        </p:nvSpPr>
        <p:spPr>
          <a:xfrm>
            <a:off x="228600" y="201168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de simulación — ModelSim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228600" y="621792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9D3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 de </a:t>
            </a:r>
            <a:r>
              <a:rPr lang="en-US" sz="1100" dirty="0" err="1">
                <a:solidFill>
                  <a:srgbClr val="39D3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Primalidad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82880" y="960120"/>
            <a:ext cx="4297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3B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binaria de señales</a:t>
            </a:r>
            <a:endParaRPr lang="en-US" sz="1000" dirty="0"/>
          </a:p>
        </p:txBody>
      </p:sp>
      <p:pic>
        <p:nvPicPr>
          <p:cNvPr id="6" name="Image 0" descr="/home/claude/sim_b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1234439"/>
            <a:ext cx="7807928" cy="323945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69D98D5-2005-3B3A-93B6-2E86517288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8C6FE64-8278-2421-B7D0-9881B205F7DC}"/>
              </a:ext>
            </a:extLst>
          </p:cNvPr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39D353"/>
          </a:solidFill>
          <a:ln w="12700">
            <a:solidFill>
              <a:srgbClr val="39D353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4C308922-2049-4FA6-5142-B5E457C832F6}"/>
              </a:ext>
            </a:extLst>
          </p:cNvPr>
          <p:cNvSpPr/>
          <p:nvPr/>
        </p:nvSpPr>
        <p:spPr>
          <a:xfrm>
            <a:off x="228600" y="201168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de simulación — ModelSim</a:t>
            </a:r>
            <a:endParaRPr lang="en-US" sz="22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0D3918E9-B45B-CB19-B031-5604A8EB3DC8}"/>
              </a:ext>
            </a:extLst>
          </p:cNvPr>
          <p:cNvSpPr/>
          <p:nvPr/>
        </p:nvSpPr>
        <p:spPr>
          <a:xfrm>
            <a:off x="228600" y="621792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9D3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Waveform binaria y decimal</a:t>
            </a:r>
            <a:endParaRPr lang="en-US" sz="1100" dirty="0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79EAD27B-7190-CD34-460C-BA1981C01EC9}"/>
              </a:ext>
            </a:extLst>
          </p:cNvPr>
          <p:cNvSpPr/>
          <p:nvPr/>
        </p:nvSpPr>
        <p:spPr>
          <a:xfrm>
            <a:off x="182880" y="925757"/>
            <a:ext cx="4297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3B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decimal — ejecución del algoritmo</a:t>
            </a:r>
            <a:endParaRPr lang="en-US" sz="1000" dirty="0"/>
          </a:p>
        </p:txBody>
      </p:sp>
      <p:pic>
        <p:nvPicPr>
          <p:cNvPr id="15" name="Imagen 14">
            <a:extLst>
              <a:ext uri="{FF2B5EF4-FFF2-40B4-BE49-F238E27FC236}">
                <a16:creationId xmlns:a16="http://schemas.microsoft.com/office/drawing/2014/main" id="{6B94ACB6-5164-0C4D-34B8-8F01BB98FB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596" y="1119067"/>
            <a:ext cx="7344322" cy="35307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36106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39D353"/>
          </a:solidFill>
          <a:ln w="12700">
            <a:solidFill>
              <a:srgbClr val="39D353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3" name="Text 1"/>
          <p:cNvSpPr/>
          <p:nvPr/>
        </p:nvSpPr>
        <p:spPr>
          <a:xfrm>
            <a:off x="228600" y="201168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Módulos Verilog implementados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228600" y="621792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9D3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Descripción de cada archivo .v del proyecto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82880" y="1005840"/>
            <a:ext cx="4206240" cy="43434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6" name="Shape 4"/>
          <p:cNvSpPr/>
          <p:nvPr/>
        </p:nvSpPr>
        <p:spPr>
          <a:xfrm>
            <a:off x="182880" y="1005840"/>
            <a:ext cx="384048" cy="434340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7" name="Text 5"/>
          <p:cNvSpPr/>
          <p:nvPr/>
        </p:nvSpPr>
        <p:spPr>
          <a:xfrm>
            <a:off x="182880" y="1005840"/>
            <a:ext cx="384048" cy="4343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21792" y="1042416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39D3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PC.v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21792" y="1216152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78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Contador de programa. Registro de 32 bits que actualiza en flanco ↑CLK. Con stall congela su valor (mantiene PC actual).</a:t>
            </a:r>
            <a:endParaRPr lang="en-US" sz="780" dirty="0"/>
          </a:p>
        </p:txBody>
      </p:sp>
      <p:sp>
        <p:nvSpPr>
          <p:cNvPr id="10" name="Shape 8"/>
          <p:cNvSpPr/>
          <p:nvPr/>
        </p:nvSpPr>
        <p:spPr>
          <a:xfrm>
            <a:off x="182880" y="1495044"/>
            <a:ext cx="4206240" cy="43434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1" name="Shape 9"/>
          <p:cNvSpPr/>
          <p:nvPr/>
        </p:nvSpPr>
        <p:spPr>
          <a:xfrm>
            <a:off x="182880" y="1495044"/>
            <a:ext cx="384048" cy="434340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2" name="Text 10"/>
          <p:cNvSpPr/>
          <p:nvPr/>
        </p:nvSpPr>
        <p:spPr>
          <a:xfrm>
            <a:off x="182880" y="1495044"/>
            <a:ext cx="384048" cy="4343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621792" y="153162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39D3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InstructionMemory.v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21792" y="1705356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78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ROM de 256×32 bits. Lectura combinacional pura. Cargada con $readmemb al inicio de la simulación.</a:t>
            </a:r>
            <a:endParaRPr lang="en-US" sz="780" dirty="0"/>
          </a:p>
        </p:txBody>
      </p:sp>
      <p:sp>
        <p:nvSpPr>
          <p:cNvPr id="15" name="Shape 13"/>
          <p:cNvSpPr/>
          <p:nvPr/>
        </p:nvSpPr>
        <p:spPr>
          <a:xfrm>
            <a:off x="182880" y="1984248"/>
            <a:ext cx="4206240" cy="43434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6" name="Shape 14"/>
          <p:cNvSpPr/>
          <p:nvPr/>
        </p:nvSpPr>
        <p:spPr>
          <a:xfrm>
            <a:off x="182880" y="1984248"/>
            <a:ext cx="384048" cy="434340"/>
          </a:xfrm>
          <a:prstGeom prst="rect">
            <a:avLst/>
          </a:prstGeom>
          <a:solidFill>
            <a:srgbClr val="E3B341"/>
          </a:solidFill>
          <a:ln w="12700">
            <a:solidFill>
              <a:srgbClr val="E3B341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7" name="Text 15"/>
          <p:cNvSpPr/>
          <p:nvPr/>
        </p:nvSpPr>
        <p:spPr>
          <a:xfrm>
            <a:off x="182880" y="1984248"/>
            <a:ext cx="384048" cy="4343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621792" y="2020824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39D3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RegisterFile.v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21792" y="2194560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78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de 32 registros × 32 bits. Doble lectura combinacional. Escritura síncrona en ↑CLK. $zero cableado a 0.</a:t>
            </a:r>
            <a:endParaRPr lang="en-US" sz="780" dirty="0"/>
          </a:p>
        </p:txBody>
      </p:sp>
      <p:sp>
        <p:nvSpPr>
          <p:cNvPr id="20" name="Shape 18"/>
          <p:cNvSpPr/>
          <p:nvPr/>
        </p:nvSpPr>
        <p:spPr>
          <a:xfrm>
            <a:off x="182880" y="2473452"/>
            <a:ext cx="4206240" cy="43434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1" name="Shape 19"/>
          <p:cNvSpPr/>
          <p:nvPr/>
        </p:nvSpPr>
        <p:spPr>
          <a:xfrm>
            <a:off x="182880" y="2473452"/>
            <a:ext cx="384048" cy="434340"/>
          </a:xfrm>
          <a:prstGeom prst="rect">
            <a:avLst/>
          </a:prstGeom>
          <a:solidFill>
            <a:srgbClr val="E3B341"/>
          </a:solidFill>
          <a:ln w="12700">
            <a:solidFill>
              <a:srgbClr val="E3B341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2" name="Text 20"/>
          <p:cNvSpPr/>
          <p:nvPr/>
        </p:nvSpPr>
        <p:spPr>
          <a:xfrm>
            <a:off x="182880" y="2473452"/>
            <a:ext cx="384048" cy="4343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21792" y="2510028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39D3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Control.v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21792" y="2683764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78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Decodifica el opcode de 6 bits y genera: RegDst, ALUSrc, MemtoReg, RegWrite, MemRead, MemWrite, Branch, Jump, ALUOp[1:0].</a:t>
            </a:r>
            <a:endParaRPr lang="en-US" sz="780" dirty="0"/>
          </a:p>
        </p:txBody>
      </p:sp>
      <p:sp>
        <p:nvSpPr>
          <p:cNvPr id="25" name="Shape 23"/>
          <p:cNvSpPr/>
          <p:nvPr/>
        </p:nvSpPr>
        <p:spPr>
          <a:xfrm>
            <a:off x="182880" y="2962656"/>
            <a:ext cx="4206240" cy="43434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6" name="Shape 24"/>
          <p:cNvSpPr/>
          <p:nvPr/>
        </p:nvSpPr>
        <p:spPr>
          <a:xfrm>
            <a:off x="182880" y="2962656"/>
            <a:ext cx="384048" cy="434340"/>
          </a:xfrm>
          <a:prstGeom prst="rect">
            <a:avLst/>
          </a:prstGeom>
          <a:solidFill>
            <a:srgbClr val="F78166"/>
          </a:solidFill>
          <a:ln w="12700">
            <a:solidFill>
              <a:srgbClr val="F78166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7" name="Text 25"/>
          <p:cNvSpPr/>
          <p:nvPr/>
        </p:nvSpPr>
        <p:spPr>
          <a:xfrm>
            <a:off x="182880" y="2962656"/>
            <a:ext cx="384048" cy="4343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621792" y="2999232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39D3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ALU.v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21792" y="3172968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78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Ejecuta: AND, OR, ADD, SUB, SLT, SLL, SRL (+ NOR/XOR por funct). Genera señal zero para BEQ.</a:t>
            </a:r>
            <a:endParaRPr lang="en-US" sz="780" dirty="0"/>
          </a:p>
        </p:txBody>
      </p:sp>
      <p:sp>
        <p:nvSpPr>
          <p:cNvPr id="30" name="Shape 28"/>
          <p:cNvSpPr/>
          <p:nvPr/>
        </p:nvSpPr>
        <p:spPr>
          <a:xfrm>
            <a:off x="4800600" y="1005840"/>
            <a:ext cx="4206240" cy="43434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31" name="Shape 29"/>
          <p:cNvSpPr/>
          <p:nvPr/>
        </p:nvSpPr>
        <p:spPr>
          <a:xfrm>
            <a:off x="4800600" y="1005840"/>
            <a:ext cx="384048" cy="434340"/>
          </a:xfrm>
          <a:prstGeom prst="rect">
            <a:avLst/>
          </a:prstGeom>
          <a:solidFill>
            <a:srgbClr val="F78166"/>
          </a:solidFill>
          <a:ln w="12700">
            <a:solidFill>
              <a:srgbClr val="F78166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32" name="Text 30"/>
          <p:cNvSpPr/>
          <p:nvPr/>
        </p:nvSpPr>
        <p:spPr>
          <a:xfrm>
            <a:off x="4800600" y="1005840"/>
            <a:ext cx="384048" cy="4343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5239512" y="1042416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39D3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ALUControl.v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5239512" y="1216152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78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ALUOp[1:0] y funct[5:0] decide la operación exacta: Tipo R → decode funct; addi/lw/sw → ADD; beq → SUB.</a:t>
            </a:r>
            <a:endParaRPr lang="en-US" sz="780" dirty="0"/>
          </a:p>
        </p:txBody>
      </p:sp>
      <p:sp>
        <p:nvSpPr>
          <p:cNvPr id="35" name="Shape 33"/>
          <p:cNvSpPr/>
          <p:nvPr/>
        </p:nvSpPr>
        <p:spPr>
          <a:xfrm>
            <a:off x="4800600" y="1495044"/>
            <a:ext cx="4206240" cy="43434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36" name="Shape 34"/>
          <p:cNvSpPr/>
          <p:nvPr/>
        </p:nvSpPr>
        <p:spPr>
          <a:xfrm>
            <a:off x="4800600" y="1495044"/>
            <a:ext cx="384048" cy="434340"/>
          </a:xfrm>
          <a:prstGeom prst="rect">
            <a:avLst/>
          </a:prstGeom>
          <a:solidFill>
            <a:srgbClr val="C9D1D9"/>
          </a:solidFill>
          <a:ln w="12700">
            <a:solidFill>
              <a:srgbClr val="C9D1D9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37" name="Text 35"/>
          <p:cNvSpPr/>
          <p:nvPr/>
        </p:nvSpPr>
        <p:spPr>
          <a:xfrm>
            <a:off x="4800600" y="1495044"/>
            <a:ext cx="384048" cy="4343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5239512" y="153162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39D3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DataMemory.v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5239512" y="1705356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78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 256×32 bits. Lectura combinacional (MemRead). Escritura síncrona (MemWrite). Palabras de 32 bits alineadas.</a:t>
            </a:r>
            <a:endParaRPr lang="en-US" sz="780" dirty="0"/>
          </a:p>
        </p:txBody>
      </p:sp>
      <p:sp>
        <p:nvSpPr>
          <p:cNvPr id="40" name="Shape 38"/>
          <p:cNvSpPr/>
          <p:nvPr/>
        </p:nvSpPr>
        <p:spPr>
          <a:xfrm>
            <a:off x="4800600" y="1984248"/>
            <a:ext cx="4206240" cy="43434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41" name="Shape 39"/>
          <p:cNvSpPr/>
          <p:nvPr/>
        </p:nvSpPr>
        <p:spPr>
          <a:xfrm>
            <a:off x="4800600" y="1984248"/>
            <a:ext cx="384048" cy="434340"/>
          </a:xfrm>
          <a:prstGeom prst="rect">
            <a:avLst/>
          </a:prstGeom>
          <a:solidFill>
            <a:srgbClr val="1A7F37"/>
          </a:solidFill>
          <a:ln w="12700">
            <a:solidFill>
              <a:srgbClr val="1A7F37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42" name="Text 40"/>
          <p:cNvSpPr/>
          <p:nvPr/>
        </p:nvSpPr>
        <p:spPr>
          <a:xfrm>
            <a:off x="4800600" y="1984248"/>
            <a:ext cx="384048" cy="4343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BUF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5239512" y="2020824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39D3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IF_ID / ID_EX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5239512" y="2194560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78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Buffers síncronos entre etapas IF→ID e ID→EX. Soportan flush (saltos) y enable/stall (load-use hazard). Reset activo-alto.</a:t>
            </a:r>
            <a:endParaRPr lang="en-US" sz="780" dirty="0"/>
          </a:p>
        </p:txBody>
      </p:sp>
      <p:sp>
        <p:nvSpPr>
          <p:cNvPr id="45" name="Shape 43"/>
          <p:cNvSpPr/>
          <p:nvPr/>
        </p:nvSpPr>
        <p:spPr>
          <a:xfrm>
            <a:off x="4800600" y="2473452"/>
            <a:ext cx="4206240" cy="43434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46" name="Shape 44"/>
          <p:cNvSpPr/>
          <p:nvPr/>
        </p:nvSpPr>
        <p:spPr>
          <a:xfrm>
            <a:off x="4800600" y="2473452"/>
            <a:ext cx="384048" cy="434340"/>
          </a:xfrm>
          <a:prstGeom prst="rect">
            <a:avLst/>
          </a:prstGeom>
          <a:solidFill>
            <a:srgbClr val="1A7F37"/>
          </a:solidFill>
          <a:ln w="12700">
            <a:solidFill>
              <a:srgbClr val="1A7F37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47" name="Text 45"/>
          <p:cNvSpPr/>
          <p:nvPr/>
        </p:nvSpPr>
        <p:spPr>
          <a:xfrm>
            <a:off x="4800600" y="2473452"/>
            <a:ext cx="384048" cy="4343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BUF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5239512" y="2510028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39D3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EX_MEM / MEM_WB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5239512" y="2683764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78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Buffers síncronos entre etapas EX→MEM y MEM→WB. Propagan señales de control y datos hacia las etapas siguientes.</a:t>
            </a:r>
            <a:endParaRPr lang="en-US" sz="780" dirty="0"/>
          </a:p>
        </p:txBody>
      </p:sp>
      <p:sp>
        <p:nvSpPr>
          <p:cNvPr id="50" name="Shape 48"/>
          <p:cNvSpPr/>
          <p:nvPr/>
        </p:nvSpPr>
        <p:spPr>
          <a:xfrm>
            <a:off x="4800600" y="2962656"/>
            <a:ext cx="4206240" cy="43434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51" name="Shape 49"/>
          <p:cNvSpPr/>
          <p:nvPr/>
        </p:nvSpPr>
        <p:spPr>
          <a:xfrm>
            <a:off x="4800600" y="2962656"/>
            <a:ext cx="384048" cy="434340"/>
          </a:xfrm>
          <a:prstGeom prst="rect">
            <a:avLst/>
          </a:prstGeom>
          <a:solidFill>
            <a:srgbClr val="39D353"/>
          </a:solidFill>
          <a:ln w="12700">
            <a:solidFill>
              <a:srgbClr val="39D353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52" name="Text 50"/>
          <p:cNvSpPr/>
          <p:nvPr/>
        </p:nvSpPr>
        <p:spPr>
          <a:xfrm>
            <a:off x="4800600" y="2962656"/>
            <a:ext cx="384048" cy="4343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TOP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5239512" y="2999232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39D3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MIPS_Top.v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5239512" y="3172968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78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raíz: interconecta todos los bloques. Contiene la Forwarding Unit (EX→EX, MEM→EX) y Hazard Detection Unit.</a:t>
            </a:r>
            <a:endParaRPr lang="en-US" sz="7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39D353"/>
          </a:solidFill>
          <a:ln w="12700">
            <a:solidFill>
              <a:srgbClr val="39D353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3" name="Text 1"/>
          <p:cNvSpPr/>
          <p:nvPr/>
        </p:nvSpPr>
        <p:spPr>
          <a:xfrm>
            <a:off x="228600" y="201168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de 5 Etapas — Hazards y Soluciones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228600" y="621792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9D3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Forwarding · Load-Use Stall · Branch Flush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82880" y="1024128"/>
            <a:ext cx="8778240" cy="118872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6" name="Shape 4"/>
          <p:cNvSpPr/>
          <p:nvPr/>
        </p:nvSpPr>
        <p:spPr>
          <a:xfrm>
            <a:off x="182880" y="1024128"/>
            <a:ext cx="54864" cy="1188720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7" name="Text 5"/>
          <p:cNvSpPr/>
          <p:nvPr/>
        </p:nvSpPr>
        <p:spPr>
          <a:xfrm>
            <a:off x="347472" y="1078992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Hazard de Datos (RAW)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47472" y="1353312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F78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Problema: </a:t>
            </a: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instrucción necesita el resultado de la anterior antes de que llegue a WB.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347472" y="1709928"/>
            <a:ext cx="53035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39D3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Solución: </a:t>
            </a:r>
            <a:r>
              <a:rPr lang="en-US" sz="95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Forwarding: el resultado de EX/MEM o MEM/WB se reenvía directamente a la entrada de la ALU (bypassing), sin esperar que se escriba en el banco de registros.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897880" y="1115568"/>
            <a:ext cx="2926080" cy="1005840"/>
          </a:xfrm>
          <a:prstGeom prst="rect">
            <a:avLst/>
          </a:prstGeom>
          <a:solidFill>
            <a:srgbClr val="0D1117"/>
          </a:solidFill>
          <a:ln w="12700">
            <a:solidFill>
              <a:srgbClr val="1A7F37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1" name="Text 9"/>
          <p:cNvSpPr/>
          <p:nvPr/>
        </p:nvSpPr>
        <p:spPr>
          <a:xfrm>
            <a:off x="5989320" y="1225296"/>
            <a:ext cx="2743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950" dirty="0">
                <a:solidFill>
                  <a:srgbClr val="39D3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 $t1,$t2,$t3</a:t>
            </a:r>
            <a:endParaRPr lang="en-US" sz="95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950" dirty="0">
                <a:solidFill>
                  <a:srgbClr val="39D3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 $t4,$t1,$t5  ← necesita $t1 de EX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182880" y="2322576"/>
            <a:ext cx="8778240" cy="118872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3" name="Shape 11"/>
          <p:cNvSpPr/>
          <p:nvPr/>
        </p:nvSpPr>
        <p:spPr>
          <a:xfrm>
            <a:off x="182880" y="2322576"/>
            <a:ext cx="54864" cy="1188720"/>
          </a:xfrm>
          <a:prstGeom prst="rect">
            <a:avLst/>
          </a:prstGeom>
          <a:solidFill>
            <a:srgbClr val="F78166"/>
          </a:solidFill>
          <a:ln w="12700">
            <a:solidFill>
              <a:srgbClr val="F78166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4" name="Text 12"/>
          <p:cNvSpPr/>
          <p:nvPr/>
        </p:nvSpPr>
        <p:spPr>
          <a:xfrm>
            <a:off x="347472" y="2377440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78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Load-Use Hazard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47472" y="265176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F78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Problema: </a:t>
            </a: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lw seguido inmediatamente de una instrucción que usa el registro cargado; el dato no está disponible en la etapa EX.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47472" y="3008376"/>
            <a:ext cx="53035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39D3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Solución: </a:t>
            </a:r>
            <a:r>
              <a:rPr lang="en-US" sz="95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Hazard Detection Unit: congela PC e IF/ID por un ciclo e inserta una burbuja (NOP) en ID/EX. Después el forwarding MEM→EX resuelve el resto.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897880" y="2414016"/>
            <a:ext cx="2926080" cy="1005840"/>
          </a:xfrm>
          <a:prstGeom prst="rect">
            <a:avLst/>
          </a:prstGeom>
          <a:solidFill>
            <a:srgbClr val="0D1117"/>
          </a:solidFill>
          <a:ln w="12700">
            <a:solidFill>
              <a:srgbClr val="1A7F37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8" name="Text 16"/>
          <p:cNvSpPr/>
          <p:nvPr/>
        </p:nvSpPr>
        <p:spPr>
          <a:xfrm>
            <a:off x="5989320" y="2523744"/>
            <a:ext cx="2743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950" dirty="0">
                <a:solidFill>
                  <a:srgbClr val="39D3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lw  $t1, 0($t2)</a:t>
            </a:r>
            <a:endParaRPr lang="en-US" sz="95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950" dirty="0">
                <a:solidFill>
                  <a:srgbClr val="39D3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 $t3,$t1,$t4  ← stall 1 ciclo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182880" y="3621024"/>
            <a:ext cx="8778240" cy="118872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0" name="Shape 18"/>
          <p:cNvSpPr/>
          <p:nvPr/>
        </p:nvSpPr>
        <p:spPr>
          <a:xfrm>
            <a:off x="182880" y="3621024"/>
            <a:ext cx="54864" cy="1188720"/>
          </a:xfrm>
          <a:prstGeom prst="rect">
            <a:avLst/>
          </a:prstGeom>
          <a:solidFill>
            <a:srgbClr val="E3B341"/>
          </a:solidFill>
          <a:ln w="12700">
            <a:solidFill>
              <a:srgbClr val="E3B341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1" name="Text 19"/>
          <p:cNvSpPr/>
          <p:nvPr/>
        </p:nvSpPr>
        <p:spPr>
          <a:xfrm>
            <a:off x="347472" y="3675888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3B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Hazard de Control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47472" y="3950208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F78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Problema: </a:t>
            </a: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BEQ, J, JAL y JR modifican el PC; las instrucciones siguiente ya se leyeron incorrectamente del pipeline.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347472" y="4306824"/>
            <a:ext cx="53035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39D3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Solución: </a:t>
            </a:r>
            <a:r>
              <a:rPr lang="en-US" sz="95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Flush: al detectar el salto (EX para BEQ; ID para J/JAL/JR) se limpian los buffers IF/ID e ID/EX, eliminando instrucciones incorrectas (squash).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897880" y="3712464"/>
            <a:ext cx="2926080" cy="1005840"/>
          </a:xfrm>
          <a:prstGeom prst="rect">
            <a:avLst/>
          </a:prstGeom>
          <a:solidFill>
            <a:srgbClr val="0D1117"/>
          </a:solidFill>
          <a:ln w="12700">
            <a:solidFill>
              <a:srgbClr val="1A7F37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5" name="Text 23"/>
          <p:cNvSpPr/>
          <p:nvPr/>
        </p:nvSpPr>
        <p:spPr>
          <a:xfrm>
            <a:off x="5989320" y="3822192"/>
            <a:ext cx="2743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950" dirty="0">
                <a:solidFill>
                  <a:srgbClr val="39D3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beq $t0,$t1,label  ← flush IF/ID,ID/EX</a:t>
            </a:r>
            <a:endParaRPr lang="en-US" sz="95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950" dirty="0">
                <a:solidFill>
                  <a:srgbClr val="39D3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jal mod_sub        ← flush en ID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39D353"/>
          </a:solidFill>
          <a:ln w="12700">
            <a:solidFill>
              <a:srgbClr val="39D353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3" name="Text 1"/>
          <p:cNvSpPr/>
          <p:nvPr/>
        </p:nvSpPr>
        <p:spPr>
          <a:xfrm>
            <a:off x="228600" y="201168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ISA — Set de instrucciones implementado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228600" y="621792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9D3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 instrucciones · Formato fijo de 32 bits (RISC)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228600" y="98755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R  — opcode 000000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" y="1298448"/>
          <a:ext cx="4114800" cy="2560320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0F6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Instrucción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0F6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0F6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Operación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39D35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add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39D35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100000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39D35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rd = rs + rt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39D35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sub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39D35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100010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39D35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rd = rs − rt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39D35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and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39D35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100100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39D35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rd = rs &amp; rt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39D35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or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39D35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100101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39D35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rd = rs | rt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39D35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slt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39D35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101010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39D35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rd = (rs&lt;rt)?1:0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39D35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sll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39D35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000000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39D35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rd = rt &lt;&lt; shamt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39D35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srl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39D35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000010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39D35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rd = rt &gt;&gt; shamt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E3B34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jr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E3B34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001000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E3B3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 = rs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39D35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nop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39D35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000000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39D35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 operación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6" name="Text 4"/>
          <p:cNvSpPr/>
          <p:nvPr/>
        </p:nvSpPr>
        <p:spPr>
          <a:xfrm>
            <a:off x="4663440" y="987552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78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I y Tipo J</a:t>
            </a:r>
            <a:endParaRPr lang="en-US" sz="12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17720" y="1298448"/>
          <a:ext cx="4297680" cy="2816352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0F6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Instrucción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0F6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opcode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0F6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Operación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F7816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lw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39D35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100011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39D35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rt = MEM[rs+imm]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F7816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sw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39D35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101011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39D35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MEM[rs+imm] = rt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F7816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beq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39D35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000100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39D35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 rs==rt: salta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F7816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addi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39D35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001000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39D35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rt = rs + imm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F7816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slti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39D35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001010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39D35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rt = (rs&lt;imm)?1:0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F7816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andi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39D35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001100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39D35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rt = rs &amp; imm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F7816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ori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39D35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001101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39D35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rt = rs | imm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E3B34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j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E3B34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000010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E3B3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 = target&lt;&lt;2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E3B34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jal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E3B34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000011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E3B3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$ra=PC+4; salta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F7816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bne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39D35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000101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39D35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 rs≠rt: salta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182880" y="4297680"/>
            <a:ext cx="8778240" cy="658368"/>
          </a:xfrm>
          <a:prstGeom prst="rect">
            <a:avLst/>
          </a:prstGeom>
          <a:solidFill>
            <a:srgbClr val="161B22"/>
          </a:solidFill>
          <a:ln w="12700">
            <a:solidFill>
              <a:srgbClr val="1A7F37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0" name="Text 6"/>
          <p:cNvSpPr/>
          <p:nvPr/>
        </p:nvSpPr>
        <p:spPr>
          <a:xfrm>
            <a:off x="365760" y="4352544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9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 Tipo R: </a:t>
            </a:r>
            <a:r>
              <a:rPr lang="en-US" sz="900" dirty="0">
                <a:solidFill>
                  <a:srgbClr val="39D3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opcode 6 | rs 5 | rt 5 | rd 5 | shamt 5 | funct 6 |   </a:t>
            </a:r>
            <a:endParaRPr lang="en-US" sz="9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900" b="1" dirty="0">
                <a:solidFill>
                  <a:srgbClr val="F78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 Tipo I: </a:t>
            </a:r>
            <a:endParaRPr lang="en-US" sz="9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900" dirty="0">
                <a:solidFill>
                  <a:srgbClr val="39D3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opcode 6 | rs 5 | rt 5 | imm/offset 16 |   </a:t>
            </a:r>
            <a:r>
              <a:rPr lang="en-US" sz="900" b="1" dirty="0">
                <a:solidFill>
                  <a:srgbClr val="E3B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 Tipo J: </a:t>
            </a:r>
            <a:r>
              <a:rPr lang="en-US" sz="900" dirty="0">
                <a:solidFill>
                  <a:srgbClr val="39D3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opcode 6 | target 26 |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39D353"/>
          </a:solidFill>
          <a:ln w="12700">
            <a:solidFill>
              <a:srgbClr val="39D353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3" name="Text 1"/>
          <p:cNvSpPr/>
          <p:nvPr/>
        </p:nvSpPr>
        <p:spPr>
          <a:xfrm>
            <a:off x="228600" y="201168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Codificación Python — assembler.py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228600" y="621792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9D3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Traduce código ensamblador MIPS a código binario/máquina (.mem)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82880" y="1005840"/>
            <a:ext cx="4114800" cy="393192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6" name="Text 4"/>
          <p:cNvSpPr/>
          <p:nvPr/>
        </p:nvSpPr>
        <p:spPr>
          <a:xfrm>
            <a:off x="320040" y="1078992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hace assembler.py?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74320" y="1417320"/>
            <a:ext cx="3840480" cy="530352"/>
          </a:xfrm>
          <a:prstGeom prst="rect">
            <a:avLst/>
          </a:prstGeom>
          <a:solidFill>
            <a:srgbClr val="21262D"/>
          </a:solidFill>
          <a:ln w="12700">
            <a:solidFill>
              <a:srgbClr val="21262D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8" name="Text 6"/>
          <p:cNvSpPr/>
          <p:nvPr/>
        </p:nvSpPr>
        <p:spPr>
          <a:xfrm>
            <a:off x="365760" y="1444752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E3B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1 — Primer pasada (first_pass)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365760" y="16459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Recorre el .asm, ignora comentarios (#) y directivas (.), y asigna a cada etiqueta el índice de instrucción correspondiente.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74320" y="1984248"/>
            <a:ext cx="3840480" cy="530352"/>
          </a:xfrm>
          <a:prstGeom prst="rect">
            <a:avLst/>
          </a:prstGeom>
          <a:solidFill>
            <a:srgbClr val="21262D"/>
          </a:solidFill>
          <a:ln w="12700">
            <a:solidFill>
              <a:srgbClr val="21262D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1" name="Text 9"/>
          <p:cNvSpPr/>
          <p:nvPr/>
        </p:nvSpPr>
        <p:spPr>
          <a:xfrm>
            <a:off x="365760" y="2011680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E3B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2 — Codificación (encode)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365760" y="221284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cada instrucción detecta el tipo (R/I/J) y construye el campo de 32 bits concatenando opcode, registros, shamt, funct o imm usando to_bin().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74320" y="2551176"/>
            <a:ext cx="3840480" cy="530352"/>
          </a:xfrm>
          <a:prstGeom prst="rect">
            <a:avLst/>
          </a:prstGeom>
          <a:solidFill>
            <a:srgbClr val="21262D"/>
          </a:solidFill>
          <a:ln w="12700">
            <a:solidFill>
              <a:srgbClr val="21262D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4" name="Text 12"/>
          <p:cNvSpPr/>
          <p:nvPr/>
        </p:nvSpPr>
        <p:spPr>
          <a:xfrm>
            <a:off x="365760" y="2578608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E3B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R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365760" y="2779776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Codifica opcode=0, rs, rt, rd, shamt y funct según la tabla. Casos especiales: sll/srl usan rs=0 y el campo shamt.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74320" y="3118104"/>
            <a:ext cx="3840480" cy="530352"/>
          </a:xfrm>
          <a:prstGeom prst="rect">
            <a:avLst/>
          </a:prstGeom>
          <a:solidFill>
            <a:srgbClr val="21262D"/>
          </a:solidFill>
          <a:ln w="12700">
            <a:solidFill>
              <a:srgbClr val="21262D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7" name="Text 15"/>
          <p:cNvSpPr/>
          <p:nvPr/>
        </p:nvSpPr>
        <p:spPr>
          <a:xfrm>
            <a:off x="365760" y="3145536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E3B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I — BEQ/BNE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365760" y="3346704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 el offset como target_pc − (pc_idx + 1), relativo a PC+4 en palabras, conforme al estándar MIPS.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274320" y="3685032"/>
            <a:ext cx="3840480" cy="530352"/>
          </a:xfrm>
          <a:prstGeom prst="rect">
            <a:avLst/>
          </a:prstGeom>
          <a:solidFill>
            <a:srgbClr val="21262D"/>
          </a:solidFill>
          <a:ln w="12700">
            <a:solidFill>
              <a:srgbClr val="21262D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0" name="Text 18"/>
          <p:cNvSpPr/>
          <p:nvPr/>
        </p:nvSpPr>
        <p:spPr>
          <a:xfrm>
            <a:off x="365760" y="3712464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E3B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J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365760" y="39136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Convierte la etiqueta a dirección byte (idx×4) y extrae los 26 bits del campo target (target_addr &gt;&gt; 2).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274320" y="4251960"/>
            <a:ext cx="3840480" cy="530352"/>
          </a:xfrm>
          <a:prstGeom prst="rect">
            <a:avLst/>
          </a:prstGeom>
          <a:solidFill>
            <a:srgbClr val="21262D"/>
          </a:solidFill>
          <a:ln w="12700">
            <a:solidFill>
              <a:srgbClr val="21262D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3" name="Text 21"/>
          <p:cNvSpPr/>
          <p:nvPr/>
        </p:nvSpPr>
        <p:spPr>
          <a:xfrm>
            <a:off x="365760" y="4279392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E3B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Salida .mem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365760" y="44805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 un archivo de texto con una instrucción de 32 bits por línea, compatible con $readmemb de Verilog. Opción --hex para hex, --decode para verificar.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434840" y="1005840"/>
            <a:ext cx="4572000" cy="3931920"/>
          </a:xfrm>
          <a:prstGeom prst="rect">
            <a:avLst/>
          </a:prstGeom>
          <a:solidFill>
            <a:srgbClr val="0D1117"/>
          </a:solidFill>
          <a:ln w="19050">
            <a:solidFill>
              <a:srgbClr val="1A7F37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6" name="Text 24"/>
          <p:cNvSpPr/>
          <p:nvPr/>
        </p:nvSpPr>
        <p:spPr>
          <a:xfrm>
            <a:off x="4553712" y="1078992"/>
            <a:ext cx="4297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Fragmento de assembler.py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4553712" y="1325880"/>
            <a:ext cx="4297680" cy="3520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78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</a:t>
            </a:r>
            <a:r>
              <a:rPr lang="en-US" sz="780" dirty="0">
                <a:solidFill>
                  <a:srgbClr val="E3B3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encode</a:t>
            </a:r>
            <a:r>
              <a:rPr lang="en-US" sz="780" dirty="0">
                <a:solidFill>
                  <a:srgbClr val="F0F6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(lineno, mnemonic, ops_raw, pc_idx, labels):
</a:t>
            </a:r>
            <a:r>
              <a:rPr lang="en-US" sz="78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── Tipo R ───────────────────────
</a:t>
            </a:r>
            <a:r>
              <a:rPr lang="en-US" sz="780" dirty="0">
                <a:solidFill>
                  <a:srgbClr val="F781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</a:t>
            </a:r>
            <a:r>
              <a:rPr lang="en-US" sz="780" dirty="0">
                <a:solidFill>
                  <a:srgbClr val="F0F6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mnemonic in </a:t>
            </a:r>
            <a:r>
              <a:rPr lang="en-US" sz="780" dirty="0">
                <a:solidFill>
                  <a:srgbClr val="39D3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TYPE_R:
</a:t>
            </a:r>
            <a:r>
              <a:rPr lang="en-US" sz="780" dirty="0">
                <a:solidFill>
                  <a:srgbClr val="F0F6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funct = TYPE_R[mnemonic]
</a:t>
            </a:r>
            <a:r>
              <a:rPr lang="en-US" sz="780" dirty="0">
                <a:solidFill>
                  <a:srgbClr val="F781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</a:t>
            </a:r>
            <a:r>
              <a:rPr lang="en-US" sz="780" dirty="0">
                <a:solidFill>
                  <a:srgbClr val="F0F6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mnemonic in </a:t>
            </a:r>
            <a:r>
              <a:rPr lang="en-US" sz="780" dirty="0">
                <a:solidFill>
                  <a:srgbClr val="39D3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('sll','srl'):
</a:t>
            </a:r>
            <a:r>
              <a:rPr lang="en-US" sz="780" dirty="0">
                <a:solidFill>
                  <a:srgbClr val="F0F6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rd=parse_reg(ops[0]); rt=parse_reg(ops[1])
      shamt=parse_int(ops[2])
</a:t>
            </a:r>
            <a:r>
              <a:rPr lang="en-US" sz="780" dirty="0">
                <a:solidFill>
                  <a:srgbClr val="F781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return </a:t>
            </a:r>
            <a:r>
              <a:rPr lang="en-US" sz="780" dirty="0">
                <a:solidFill>
                  <a:srgbClr val="F0F6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(to_bin(0,6)+to_bin(0,5)+to_bin(rt,5)
        +to_bin(rd,5)+to_bin(shamt,5)+to_bin(funct,6))
</a:t>
            </a:r>
            <a:r>
              <a:rPr lang="en-US" sz="78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── BEQ offset relativo ──────────
</a:t>
            </a:r>
            <a:r>
              <a:rPr lang="en-US" sz="780" dirty="0">
                <a:solidFill>
                  <a:srgbClr val="F781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</a:t>
            </a:r>
            <a:r>
              <a:rPr lang="en-US" sz="780" dirty="0">
                <a:solidFill>
                  <a:srgbClr val="F0F6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mnemonic in </a:t>
            </a:r>
            <a:r>
              <a:rPr lang="en-US" sz="780" dirty="0">
                <a:solidFill>
                  <a:srgbClr val="39D3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('beq','bne'):
</a:t>
            </a:r>
            <a:r>
              <a:rPr lang="en-US" sz="78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offset = target_pc − (pc_idx + 1)  # PC+4/4
</a:t>
            </a:r>
            <a:r>
              <a:rPr lang="en-US" sz="780" dirty="0">
                <a:solidFill>
                  <a:srgbClr val="F781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</a:t>
            </a:r>
            <a:r>
              <a:rPr lang="en-US" sz="780" dirty="0">
                <a:solidFill>
                  <a:srgbClr val="F0F6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(to_bin(op,6)+to_bin(rs,5)
     +to_bin(rt,5)+to_bin(offset,16))
</a:t>
            </a:r>
            <a:r>
              <a:rPr lang="en-US" sz="78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── Tipo J (j / jal) ─────────────
</a:t>
            </a:r>
            <a:r>
              <a:rPr lang="en-US" sz="780" dirty="0">
                <a:solidFill>
                  <a:srgbClr val="F781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</a:t>
            </a:r>
            <a:r>
              <a:rPr lang="en-US" sz="780" dirty="0">
                <a:solidFill>
                  <a:srgbClr val="F0F6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mnemonic == </a:t>
            </a:r>
            <a:r>
              <a:rPr lang="en-US" sz="780" dirty="0">
                <a:solidFill>
                  <a:srgbClr val="39D3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'j':
</a:t>
            </a:r>
            <a:r>
              <a:rPr lang="en-US" sz="780" dirty="0">
                <a:solidFill>
                  <a:srgbClr val="F0F6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target_addr = labels[target]*4
</a:t>
            </a:r>
            <a:r>
              <a:rPr lang="en-US" sz="780" dirty="0">
                <a:solidFill>
                  <a:srgbClr val="F781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</a:t>
            </a:r>
            <a:r>
              <a:rPr lang="en-US" sz="780" dirty="0">
                <a:solidFill>
                  <a:srgbClr val="F0F6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(to_bin(op,6)+to_bin(target_addr&gt;&gt;2, 26))
</a:t>
            </a:r>
            <a:endParaRPr lang="en-US" sz="780" dirty="0"/>
          </a:p>
        </p:txBody>
      </p:sp>
      <p:sp>
        <p:nvSpPr>
          <p:cNvPr id="28" name="Shape 26"/>
          <p:cNvSpPr/>
          <p:nvPr/>
        </p:nvSpPr>
        <p:spPr>
          <a:xfrm>
            <a:off x="228600" y="4846320"/>
            <a:ext cx="8778240" cy="365760"/>
          </a:xfrm>
          <a:prstGeom prst="rect">
            <a:avLst/>
          </a:prstGeom>
          <a:solidFill>
            <a:srgbClr val="21262D"/>
          </a:solidFill>
          <a:ln w="12700">
            <a:solidFill>
              <a:srgbClr val="21262D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9" name="Text 27"/>
          <p:cNvSpPr/>
          <p:nvPr/>
        </p:nvSpPr>
        <p:spPr>
          <a:xfrm>
            <a:off x="306977" y="4882896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3B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Uso: </a:t>
            </a:r>
            <a:r>
              <a:rPr lang="en-US" sz="950" dirty="0">
                <a:solidFill>
                  <a:srgbClr val="39D3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python3 assembler.py primality_test.asm -o TestF3.mem --decode --hex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61B22"/>
          </a:solidFill>
          <a:ln w="12700">
            <a:solidFill>
              <a:srgbClr val="161B22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3" name="Shape 1"/>
          <p:cNvSpPr/>
          <p:nvPr/>
        </p:nvSpPr>
        <p:spPr>
          <a:xfrm>
            <a:off x="0" y="1005840"/>
            <a:ext cx="9144000" cy="36576"/>
          </a:xfrm>
          <a:prstGeom prst="rect">
            <a:avLst/>
          </a:prstGeom>
          <a:solidFill>
            <a:srgbClr val="39D353"/>
          </a:solidFill>
          <a:ln w="12700">
            <a:solidFill>
              <a:srgbClr val="39D353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4" name="Text 2"/>
          <p:cNvSpPr/>
          <p:nvPr/>
        </p:nvSpPr>
        <p:spPr>
          <a:xfrm>
            <a:off x="36576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Conclusiones del equipo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82880" y="1115568"/>
            <a:ext cx="4297680" cy="173736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6" name="Shape 4"/>
          <p:cNvSpPr/>
          <p:nvPr/>
        </p:nvSpPr>
        <p:spPr>
          <a:xfrm>
            <a:off x="182880" y="1115568"/>
            <a:ext cx="4297680" cy="36576"/>
          </a:xfrm>
          <a:prstGeom prst="rect">
            <a:avLst/>
          </a:prstGeom>
          <a:solidFill>
            <a:srgbClr val="39D353"/>
          </a:solidFill>
          <a:ln w="12700">
            <a:solidFill>
              <a:srgbClr val="39D353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7" name="Text 5"/>
          <p:cNvSpPr/>
          <p:nvPr/>
        </p:nvSpPr>
        <p:spPr>
          <a:xfrm>
            <a:off x="320040" y="120700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9D3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Diego González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20040" y="1527048"/>
            <a:ext cx="39776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implementación del datapath reveló cómo cada señal de control afecta el flujo de datos en cada ciclo. La codificación manual (opcode, funct, campos) consolida la comprensión de la interfaz hardware/software.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63440" y="1115568"/>
            <a:ext cx="4297680" cy="173736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0" name="Shape 8"/>
          <p:cNvSpPr/>
          <p:nvPr/>
        </p:nvSpPr>
        <p:spPr>
          <a:xfrm>
            <a:off x="4663440" y="1115568"/>
            <a:ext cx="4297680" cy="36576"/>
          </a:xfrm>
          <a:prstGeom prst="rect">
            <a:avLst/>
          </a:prstGeom>
          <a:solidFill>
            <a:srgbClr val="39D353"/>
          </a:solidFill>
          <a:ln w="12700">
            <a:solidFill>
              <a:srgbClr val="39D353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1" name="Text 9"/>
          <p:cNvSpPr/>
          <p:nvPr/>
        </p:nvSpPr>
        <p:spPr>
          <a:xfrm>
            <a:off x="4800600" y="120700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9D3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Derek Casillas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00600" y="1527048"/>
            <a:ext cx="39776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buffers de pipeline parecen simples registros, pero obligan a propagar exactamente las señales que la etapa siguiente necesita. Codificar BEQ con offsets correctos fue la prueba más directa del formato Tipo I.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82880" y="2971800"/>
            <a:ext cx="4297680" cy="173736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4" name="Shape 12"/>
          <p:cNvSpPr/>
          <p:nvPr/>
        </p:nvSpPr>
        <p:spPr>
          <a:xfrm>
            <a:off x="182880" y="2971800"/>
            <a:ext cx="4297680" cy="36576"/>
          </a:xfrm>
          <a:prstGeom prst="rect">
            <a:avLst/>
          </a:prstGeom>
          <a:solidFill>
            <a:srgbClr val="39D353"/>
          </a:solidFill>
          <a:ln w="12700">
            <a:solidFill>
              <a:srgbClr val="39D353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5" name="Text 13"/>
          <p:cNvSpPr/>
          <p:nvPr/>
        </p:nvSpPr>
        <p:spPr>
          <a:xfrm>
            <a:off x="320040" y="306324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9D3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Iván Ortiz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20040" y="3383280"/>
            <a:ext cx="39776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capítulo 4.6 de Patterson &amp; Hennessy dejó claro que el pipeline no es una optimización del single-cycle: es un cambio arquitectónico donde todos los buffers y el PC deben compartir el mismo flanco de reloj.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663440" y="2971800"/>
            <a:ext cx="4297680" cy="173736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8" name="Shape 16"/>
          <p:cNvSpPr/>
          <p:nvPr/>
        </p:nvSpPr>
        <p:spPr>
          <a:xfrm>
            <a:off x="4663440" y="2971800"/>
            <a:ext cx="4297680" cy="36576"/>
          </a:xfrm>
          <a:prstGeom prst="rect">
            <a:avLst/>
          </a:prstGeom>
          <a:solidFill>
            <a:srgbClr val="39D353"/>
          </a:solidFill>
          <a:ln w="12700">
            <a:solidFill>
              <a:srgbClr val="39D353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9" name="Text 17"/>
          <p:cNvSpPr/>
          <p:nvPr/>
        </p:nvSpPr>
        <p:spPr>
          <a:xfrm>
            <a:off x="4800600" y="306324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9D3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Omar Luna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800600" y="3383280"/>
            <a:ext cx="39776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Diseñar el test de primalidad con JAL/JR demostró que con un ISA mínimo es posible la programación estructurada. Sin instrucción DIV, las restas sucesivas ilustran cómo el ISA condiciona los algoritmos.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61B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371600" y="914400"/>
            <a:ext cx="6400800" cy="3291840"/>
          </a:xfrm>
          <a:prstGeom prst="rect">
            <a:avLst/>
          </a:prstGeom>
          <a:solidFill>
            <a:srgbClr val="0D1117"/>
          </a:solidFill>
          <a:ln w="19050">
            <a:solidFill>
              <a:srgbClr val="1A7F37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3" name="Text 1"/>
          <p:cNvSpPr/>
          <p:nvPr/>
        </p:nvSpPr>
        <p:spPr>
          <a:xfrm>
            <a:off x="1554480" y="1097280"/>
            <a:ext cx="6035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2600" b="1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Procesador MIPS 32-bit</a:t>
            </a:r>
            <a:endParaRPr lang="en-US" sz="26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2600" b="1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Pipeline de 5 Etapas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554480" y="2148840"/>
            <a:ext cx="6035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39D3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→ ID → EX → MEM → WB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2286000" y="2578608"/>
            <a:ext cx="4572000" cy="0"/>
          </a:xfrm>
          <a:prstGeom prst="line">
            <a:avLst/>
          </a:prstGeom>
          <a:noFill/>
          <a:ln w="9525">
            <a:solidFill>
              <a:srgbClr val="1A7F37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6" name="Text 4"/>
          <p:cNvSpPr/>
          <p:nvPr/>
        </p:nvSpPr>
        <p:spPr>
          <a:xfrm>
            <a:off x="1554480" y="2697480"/>
            <a:ext cx="6035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450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Materia: Arquitectura de Computadoras — CUCEI, UDG</a:t>
            </a:r>
            <a:endParaRPr lang="en-US" sz="1050" dirty="0"/>
          </a:p>
          <a:p>
            <a:pPr marL="0" indent="0" algn="ctr">
              <a:lnSpc>
                <a:spcPct val="1450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Profesor: Jorge Ernesto López Arce Delgado</a:t>
            </a:r>
            <a:endParaRPr lang="en-US" sz="1050" dirty="0"/>
          </a:p>
          <a:p>
            <a:pPr marL="0" indent="0" algn="ctr">
              <a:lnSpc>
                <a:spcPct val="1450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Equipo: González · Casillas · Ortiz · Luna · Mayo 2026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554480" y="4343400"/>
            <a:ext cx="6035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39D3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</a:t>
            </a:r>
            <a:endParaRPr lang="en-US" sz="3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2038</Words>
  <Application>Microsoft Office PowerPoint</Application>
  <PresentationFormat>Presentación en pantalla (16:9)</PresentationFormat>
  <Paragraphs>241</Paragraphs>
  <Slides>10</Slides>
  <Notes>10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10</vt:i4>
      </vt:variant>
    </vt:vector>
  </HeadingPairs>
  <TitlesOfParts>
    <vt:vector size="14" baseType="lpstr">
      <vt:lpstr>Arial</vt:lpstr>
      <vt:lpstr>Calibri</vt:lpstr>
      <vt:lpstr>Consolas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MIPS 32-bit Pipeline — Fase 3</dc:title>
  <dc:subject>PptxGenJS Presentation</dc:subject>
  <dc:creator>PptxGenJS</dc:creator>
  <cp:lastModifiedBy>omar luna</cp:lastModifiedBy>
  <cp:revision>3</cp:revision>
  <dcterms:created xsi:type="dcterms:W3CDTF">2026-05-23T21:54:15Z</dcterms:created>
  <dcterms:modified xsi:type="dcterms:W3CDTF">2026-05-23T22:05:01Z</dcterms:modified>
</cp:coreProperties>
</file>